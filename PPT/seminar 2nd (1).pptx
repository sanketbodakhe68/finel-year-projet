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5"/>
  </p:notesMasterIdLst>
  <p:sldIdLst>
    <p:sldId id="256" r:id="rId2"/>
    <p:sldId id="258" r:id="rId3"/>
    <p:sldId id="259" r:id="rId4"/>
    <p:sldId id="261" r:id="rId5"/>
    <p:sldId id="269" r:id="rId6"/>
    <p:sldId id="272" r:id="rId7"/>
    <p:sldId id="273" r:id="rId8"/>
    <p:sldId id="271" r:id="rId9"/>
    <p:sldId id="260" r:id="rId10"/>
    <p:sldId id="265" r:id="rId11"/>
    <p:sldId id="283"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DC41BC-39FF-4F44-84EC-26B1E616136C}">
          <p14:sldIdLst>
            <p14:sldId id="256"/>
            <p14:sldId id="258"/>
            <p14:sldId id="259"/>
            <p14:sldId id="261"/>
            <p14:sldId id="269"/>
            <p14:sldId id="272"/>
            <p14:sldId id="273"/>
            <p14:sldId id="271"/>
            <p14:sldId id="260"/>
            <p14:sldId id="265"/>
            <p14:sldId id="283"/>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4" d="100"/>
          <a:sy n="74" d="100"/>
        </p:scale>
        <p:origin x="8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3E964-412C-478F-9619-34D45A6C4A3D}"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610E9-D64E-418E-97DA-885A457A7DE4}" type="slidenum">
              <a:rPr lang="en-IN" smtClean="0"/>
              <a:t>‹#›</a:t>
            </a:fld>
            <a:endParaRPr lang="en-IN"/>
          </a:p>
        </p:txBody>
      </p:sp>
    </p:spTree>
    <p:extLst>
      <p:ext uri="{BB962C8B-B14F-4D97-AF65-F5344CB8AC3E}">
        <p14:creationId xmlns:p14="http://schemas.microsoft.com/office/powerpoint/2010/main" val="1452727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5610E9-D64E-418E-97DA-885A457A7DE4}" type="slidenum">
              <a:rPr lang="en-IN" smtClean="0"/>
              <a:t>4</a:t>
            </a:fld>
            <a:endParaRPr lang="en-IN"/>
          </a:p>
        </p:txBody>
      </p:sp>
    </p:spTree>
    <p:extLst>
      <p:ext uri="{BB962C8B-B14F-4D97-AF65-F5344CB8AC3E}">
        <p14:creationId xmlns:p14="http://schemas.microsoft.com/office/powerpoint/2010/main" val="10544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26635b118e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26635b118e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BA46-AE51-8666-CC1D-AD17CA628D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E26038-2475-CF30-0A2E-2E84101652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0D3553-410E-4EAC-B453-747FFA14B69B}"/>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0AB40CCF-6C98-3E9B-5FB1-C53D6B8BF20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EC330ED-4D37-52EF-3570-2792CBDBA098}"/>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947323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9966-3333-2B6F-0A07-4C3B2FBD25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5A9CBF-E803-1285-69C1-6238F3A629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F1E2E-2D70-89E6-A11A-684909F72F67}"/>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463B0542-8FB3-604F-38D8-A1045F90D0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C1CD7A2-C9CC-17E7-9202-9D5BF1A8C6C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33206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AFFD-92C5-E18D-FE74-3F2083E9F3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E7011F-E3D9-6D5C-B82A-2B084A66B6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E0127E-8C30-23AF-E3DA-78B03FCE3B43}"/>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E37A49D2-71F4-F669-D6D4-2F2781D4BF1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0ABE32F-DD4A-CC34-E9BB-82A018A36E5E}"/>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77629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FCA5-E5D6-4106-C65E-08071467E7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1A8DA9-8FAB-434F-B3B4-4EECF7C332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E8B4FB-5DE9-EE05-FF7C-12B8A99C06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B79CA0-B7E5-422C-1C35-DE168B738948}"/>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6" name="Footer Placeholder 5">
            <a:extLst>
              <a:ext uri="{FF2B5EF4-FFF2-40B4-BE49-F238E27FC236}">
                <a16:creationId xmlns:a16="http://schemas.microsoft.com/office/drawing/2014/main" id="{B590B6A9-F110-48FE-AE82-04374EF9F803}"/>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23F5B75-8FF4-B044-8D64-68EF8BE6BEE5}"/>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6067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79EEC-DFE2-38E7-6454-DB620AF431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F285C0-D546-2AFB-7A76-96B5016D20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B44696-4E0C-9414-016A-6E4A8234CE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73551A-FCBB-A319-C40F-1DA03438C7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1C298D-28A3-0E73-2CEB-3286B7CB9D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D6174A-1F85-A39D-E5B0-232E4EE6A897}"/>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8" name="Footer Placeholder 7">
            <a:extLst>
              <a:ext uri="{FF2B5EF4-FFF2-40B4-BE49-F238E27FC236}">
                <a16:creationId xmlns:a16="http://schemas.microsoft.com/office/drawing/2014/main" id="{883D6907-C41F-BABE-077C-F1FCBD4E4CFA}"/>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EC2E7129-F77F-B221-3804-FB02977CEC0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003174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D9FE9-3CA7-AAA1-7489-2D9BD4A97D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43A9DE-5C89-D001-0498-DE95A6A39B94}"/>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4" name="Footer Placeholder 3">
            <a:extLst>
              <a:ext uri="{FF2B5EF4-FFF2-40B4-BE49-F238E27FC236}">
                <a16:creationId xmlns:a16="http://schemas.microsoft.com/office/drawing/2014/main" id="{F88AE536-B4BC-0968-D947-5F058551E835}"/>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8BA4E02-C971-1E55-1308-56353138264E}"/>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54710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E27FC8-E869-DA6A-6556-4DCE35BDADFB}"/>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3" name="Footer Placeholder 2">
            <a:extLst>
              <a:ext uri="{FF2B5EF4-FFF2-40B4-BE49-F238E27FC236}">
                <a16:creationId xmlns:a16="http://schemas.microsoft.com/office/drawing/2014/main" id="{0A577D0F-7BD1-E75A-258A-48B64AD53EE7}"/>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F44BAD6D-1974-C56C-CF97-D294C61E5A6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442974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A52E-B62E-4CA7-605C-05D1034A5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3D2AAF-02A5-E670-EC33-C46EBF72FF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8C9BDB-C7DF-7666-9778-BB68FD336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59E515-E953-0F5A-B81A-95511985319D}"/>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6" name="Footer Placeholder 5">
            <a:extLst>
              <a:ext uri="{FF2B5EF4-FFF2-40B4-BE49-F238E27FC236}">
                <a16:creationId xmlns:a16="http://schemas.microsoft.com/office/drawing/2014/main" id="{2262D3CB-5DBF-38FD-7A03-33696EB11BE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57DAD6B-35C0-78C8-061E-43E4889EA882}"/>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278748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BCD6-3DA6-E16A-C0FA-19150D89B4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B0ED56-3F77-B23E-3F84-FD75FF1F1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82EA89-F116-4924-BC1E-EC18910C1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6A2D1-528D-D4CC-D95D-3C321B32D3C3}"/>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6" name="Footer Placeholder 5">
            <a:extLst>
              <a:ext uri="{FF2B5EF4-FFF2-40B4-BE49-F238E27FC236}">
                <a16:creationId xmlns:a16="http://schemas.microsoft.com/office/drawing/2014/main" id="{C12D9658-EC09-1D1D-A9E1-D9A289EC6C6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4ECD70-5166-BDC6-A188-E6AFDAF1C270}"/>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3648410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F7190-5DD1-3697-4CD8-F364DC4B08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4C4AB5-D149-43F0-031C-783F98385A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A965CE-9003-F16A-488F-DE162E29579D}"/>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5E9636F2-0489-CA0A-0C41-99EFEA0D152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01EA4C5-36DF-BD54-1335-3E20B8C98F5B}"/>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49407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478E39-BC14-D165-DE7F-FEAB4EAA95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8ACD6E-0818-B3AC-6864-12B344C832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41120F-2A78-3C76-938D-4F5B3B27ACF4}"/>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1CC2D48E-AFD7-6EB8-3334-B38FAF4218E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847B49-8C88-DD43-6436-542E25DB96D5}"/>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1135771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D4E06F-CA60-867C-6000-5584945BC8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8065DE-5AAE-F123-AC7B-123A9D07C1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62252-EAEC-0636-3EC5-06577ED2F8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FFAB2E6E-F389-F641-D953-0035F67476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54B94533-3DBA-9059-440B-FD9BA98C00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10D04B-9277-48D6-8206-D4FDB329C5AC}" type="slidenum">
              <a:rPr lang="en-IN" smtClean="0"/>
              <a:t>‹#›</a:t>
            </a:fld>
            <a:endParaRPr lang="en-IN" dirty="0"/>
          </a:p>
        </p:txBody>
      </p:sp>
    </p:spTree>
    <p:extLst>
      <p:ext uri="{BB962C8B-B14F-4D97-AF65-F5344CB8AC3E}">
        <p14:creationId xmlns:p14="http://schemas.microsoft.com/office/powerpoint/2010/main" val="236134824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7A6E8-FA2B-E1C2-60AE-9B0F01BE8F05}"/>
              </a:ext>
            </a:extLst>
          </p:cNvPr>
          <p:cNvSpPr>
            <a:spLocks noGrp="1"/>
          </p:cNvSpPr>
          <p:nvPr>
            <p:ph type="ctrTitle"/>
          </p:nvPr>
        </p:nvSpPr>
        <p:spPr>
          <a:xfrm>
            <a:off x="1995054" y="0"/>
            <a:ext cx="10196946" cy="1173018"/>
          </a:xfrm>
        </p:spPr>
        <p:txBody>
          <a:bodyPr>
            <a:noAutofit/>
          </a:bodyPr>
          <a:lstStyle/>
          <a:p>
            <a:pPr algn="ctr"/>
            <a:r>
              <a:rPr lang="en-US" sz="3200" b="1">
                <a:effectLst>
                  <a:outerShdw blurRad="38100" dist="38100" dir="2700000" algn="tl">
                    <a:srgbClr val="000000">
                      <a:alpha val="43137"/>
                    </a:srgbClr>
                  </a:outerShdw>
                </a:effectLst>
                <a:latin typeface="Colonna MT" panose="04020805060202030203" pitchFamily="82" charset="0"/>
              </a:rPr>
              <a:t>SAHAKAR MAHARSHI SHANKARRAO MOHITE-PATIL INSTITUTE OF TECHNOLOGY AND RESEARCH AKLUJ</a:t>
            </a:r>
            <a:endParaRPr lang="en-IN" sz="3200" dirty="0"/>
          </a:p>
        </p:txBody>
      </p:sp>
      <p:sp>
        <p:nvSpPr>
          <p:cNvPr id="3" name="Subtitle 2">
            <a:extLst>
              <a:ext uri="{FF2B5EF4-FFF2-40B4-BE49-F238E27FC236}">
                <a16:creationId xmlns:a16="http://schemas.microsoft.com/office/drawing/2014/main" id="{B6C44703-836D-7977-1624-888B359FD010}"/>
              </a:ext>
            </a:extLst>
          </p:cNvPr>
          <p:cNvSpPr>
            <a:spLocks noGrp="1"/>
          </p:cNvSpPr>
          <p:nvPr>
            <p:ph type="subTitle" idx="1"/>
          </p:nvPr>
        </p:nvSpPr>
        <p:spPr>
          <a:xfrm>
            <a:off x="0" y="1173018"/>
            <a:ext cx="12192000" cy="5785539"/>
          </a:xfrm>
        </p:spPr>
        <p:txBody>
          <a:bodyPr>
            <a:normAutofit/>
          </a:bodyPr>
          <a:lstStyle/>
          <a:p>
            <a:pPr algn="ctr"/>
            <a:r>
              <a:rPr lang="en-IN" sz="2000" b="1" dirty="0">
                <a:latin typeface="Times New Roman" panose="02020603050405020304" pitchFamily="18" charset="0"/>
                <a:cs typeface="Times New Roman" panose="02020603050405020304" pitchFamily="18" charset="0"/>
              </a:rPr>
              <a:t> A</a:t>
            </a:r>
          </a:p>
          <a:p>
            <a:pPr algn="ctr"/>
            <a:r>
              <a:rPr lang="en-IN" sz="2000" b="1" dirty="0">
                <a:latin typeface="Times New Roman" panose="02020603050405020304" pitchFamily="18" charset="0"/>
                <a:cs typeface="Times New Roman" panose="02020603050405020304" pitchFamily="18" charset="0"/>
              </a:rPr>
              <a:t>PRESENTAION ON</a:t>
            </a:r>
          </a:p>
          <a:p>
            <a:r>
              <a:rPr lang="en-IN" sz="3200" b="1" dirty="0">
                <a:latin typeface="Times New Roman" panose="02020603050405020304" pitchFamily="18" charset="0"/>
                <a:ea typeface="Calibri" panose="020F0502020204030204" pitchFamily="34" charset="0"/>
                <a:cs typeface="Times New Roman" panose="02020603050405020304" pitchFamily="18" charset="0"/>
              </a:rPr>
              <a:t>“</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VoiceVerse</a:t>
            </a:r>
            <a:r>
              <a:rPr lang="en-US" sz="3200" b="1" dirty="0">
                <a:latin typeface="Times New Roman" panose="02020603050405020304" pitchFamily="18" charset="0"/>
                <a:ea typeface="Calibri" panose="020F0502020204030204" pitchFamily="34" charset="0"/>
                <a:cs typeface="Times New Roman" panose="02020603050405020304" pitchFamily="18" charset="0"/>
              </a:rPr>
              <a:t> Translator – Real-Time AI-Powered Voice Translation System</a:t>
            </a:r>
            <a:r>
              <a:rPr lang="en-IN" sz="3200" b="1" dirty="0">
                <a:latin typeface="Times New Roman" panose="02020603050405020304" pitchFamily="18" charset="0"/>
                <a:ea typeface="Calibri" panose="020F0502020204030204" pitchFamily="34" charset="0"/>
                <a:cs typeface="Times New Roman" panose="02020603050405020304" pitchFamily="18" charset="0"/>
              </a:rPr>
              <a:t>”  </a:t>
            </a:r>
          </a:p>
          <a:p>
            <a:pPr algn="ctr"/>
            <a:r>
              <a:rPr lang="en-IN" sz="100" b="1" dirty="0">
                <a:latin typeface="Times New Roman" panose="02020603050405020304" pitchFamily="18" charset="0"/>
                <a:ea typeface="Calibri" panose="020F0502020204030204" pitchFamily="34" charset="0"/>
                <a:cs typeface="Times New Roman" panose="02020603050405020304" pitchFamily="18" charset="0"/>
              </a:rPr>
              <a:t>                    </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20000"/>
              </a:lnSpc>
            </a:pPr>
            <a:r>
              <a:rPr lang="en-IN" sz="2000" b="1" dirty="0">
                <a:latin typeface="Times New Roman" panose="02020603050405020304" pitchFamily="18" charset="0"/>
                <a:cs typeface="Times New Roman" panose="02020603050405020304" pitchFamily="18" charset="0"/>
              </a:rPr>
              <a:t>Name of student </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Bodakhe Sanket Eknath</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Bhaskare</a:t>
            </a:r>
            <a:r>
              <a:rPr lang="en-IN" sz="1800" dirty="0">
                <a:latin typeface="Times New Roman" panose="02020603050405020304" pitchFamily="18" charset="0"/>
                <a:ea typeface="Calibri" panose="020F0502020204030204" pitchFamily="34" charset="0"/>
                <a:cs typeface="Times New Roman" panose="02020603050405020304" pitchFamily="18" charset="0"/>
              </a:rPr>
              <a:t> Rushikesh Nagesh</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Sul Tanish Bhagwat </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Kshirsagar Gajanan Santosh </a:t>
            </a:r>
          </a:p>
          <a:p>
            <a:pPr marR="2535555" algn="ctr">
              <a:lnSpc>
                <a:spcPct val="100000"/>
              </a:lnSpc>
            </a:pPr>
            <a:r>
              <a:rPr lang="en-US" sz="2000" b="1" dirty="0">
                <a:latin typeface="Times New Roman" panose="02020603050405020304" pitchFamily="18" charset="0"/>
                <a:cs typeface="Times New Roman" panose="02020603050405020304" pitchFamily="18" charset="0"/>
              </a:rPr>
              <a:t>                                      Under  guidance</a:t>
            </a:r>
          </a:p>
          <a:p>
            <a:pPr marR="2535555" algn="ctr">
              <a:lnSpc>
                <a:spcPct val="100000"/>
              </a:lnSpc>
            </a:pPr>
            <a:r>
              <a:rPr lang="en-US" sz="2000" b="1" dirty="0">
                <a:latin typeface="Times New Roman" panose="02020603050405020304" pitchFamily="18" charset="0"/>
                <a:cs typeface="Times New Roman" panose="02020603050405020304" pitchFamily="18" charset="0"/>
              </a:rPr>
              <a:t>                                  of </a:t>
            </a:r>
            <a:endParaRPr lang="en-IN" sz="2000" b="1" dirty="0">
              <a:latin typeface="Times New Roman" panose="02020603050405020304" pitchFamily="18" charset="0"/>
              <a:cs typeface="Times New Roman" panose="02020603050405020304" pitchFamily="18" charset="0"/>
            </a:endParaRPr>
          </a:p>
          <a:p>
            <a:pPr marR="2535555" algn="ctr">
              <a:lnSpc>
                <a:spcPct val="120000"/>
              </a:lnSpc>
            </a:pPr>
            <a:r>
              <a:rPr lang="en-US" sz="2000" b="1" dirty="0">
                <a:latin typeface="Times New Roman" panose="02020603050405020304" pitchFamily="18" charset="0"/>
                <a:cs typeface="Times New Roman" panose="02020603050405020304" pitchFamily="18" charset="0"/>
              </a:rPr>
              <a:t>                                    Prof.   S. D. </a:t>
            </a:r>
            <a:r>
              <a:rPr lang="en-US" sz="2000" b="1" dirty="0" err="1">
                <a:latin typeface="Times New Roman" panose="02020603050405020304" pitchFamily="18" charset="0"/>
                <a:cs typeface="Times New Roman" panose="02020603050405020304" pitchFamily="18" charset="0"/>
              </a:rPr>
              <a:t>Pandhare</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6825CF5-81CC-9B2E-6063-7D4B3164B9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3520" y="91440"/>
            <a:ext cx="1366301" cy="1366301"/>
          </a:xfrm>
          <a:prstGeom prst="rect">
            <a:avLst/>
          </a:prstGeom>
        </p:spPr>
      </p:pic>
    </p:spTree>
    <p:extLst>
      <p:ext uri="{BB962C8B-B14F-4D97-AF65-F5344CB8AC3E}">
        <p14:creationId xmlns:p14="http://schemas.microsoft.com/office/powerpoint/2010/main" val="23209703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2761BA-C100-3A54-140C-2EAD36572B11}"/>
              </a:ext>
            </a:extLst>
          </p:cNvPr>
          <p:cNvSpPr>
            <a:spLocks noGrp="1"/>
          </p:cNvSpPr>
          <p:nvPr>
            <p:ph type="title"/>
          </p:nvPr>
        </p:nvSpPr>
        <p:spPr>
          <a:xfrm>
            <a:off x="686834" y="1153572"/>
            <a:ext cx="3200400" cy="4461163"/>
          </a:xfrm>
        </p:spPr>
        <p:txBody>
          <a:bodyPr>
            <a:normAutofit/>
          </a:bodyPr>
          <a:lstStyle/>
          <a:p>
            <a:r>
              <a:rPr lang="en-IN" b="1">
                <a:solidFill>
                  <a:srgbClr val="FFFFFF"/>
                </a:solidFill>
                <a:latin typeface="Times New Roman" panose="02020603050405020304" pitchFamily="18" charset="0"/>
                <a:cs typeface="Times New Roman" panose="02020603050405020304" pitchFamily="18" charset="0"/>
              </a:rPr>
              <a:t>Content</a:t>
            </a:r>
          </a:p>
        </p:txBody>
      </p:sp>
      <p:sp>
        <p:nvSpPr>
          <p:cNvPr id="29"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960A198-FCEB-C8D7-FB22-E8C9095338A6}"/>
              </a:ext>
            </a:extLst>
          </p:cNvPr>
          <p:cNvSpPr>
            <a:spLocks noGrp="1"/>
          </p:cNvSpPr>
          <p:nvPr>
            <p:ph idx="1"/>
          </p:nvPr>
        </p:nvSpPr>
        <p:spPr>
          <a:xfrm>
            <a:off x="4447308" y="591344"/>
            <a:ext cx="6906491" cy="5585619"/>
          </a:xfrm>
        </p:spPr>
        <p:txBody>
          <a:bodyPr anchor="ctr">
            <a:normAutofit/>
          </a:bodyPr>
          <a:lstStyle/>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Introduction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Literature Survey</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Problem Statement</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Existing System</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Proposed System</a:t>
            </a:r>
          </a:p>
          <a:p>
            <a:pPr marL="555625" lvl="0" indent="-457200">
              <a:spcBef>
                <a:spcPts val="0"/>
              </a:spcBef>
              <a:spcAft>
                <a:spcPts val="600"/>
              </a:spcAft>
              <a:buClr>
                <a:srgbClr val="000000"/>
              </a:buClr>
              <a:buSzPts val="2050"/>
              <a:buFont typeface="Wingdings" panose="05000000000000000000" pitchFamily="2" charset="2"/>
              <a:buChar char="Ø"/>
            </a:pPr>
            <a:r>
              <a:rPr lang="en-US" altLang="en-US">
                <a:latin typeface="Times New Roman" panose="02020603050405020304" charset="0"/>
                <a:cs typeface="Times New Roman" panose="02020603050405020304" charset="0"/>
                <a:sym typeface="+mn-ea"/>
              </a:rPr>
              <a:t>Methodology</a:t>
            </a:r>
            <a:endParaRPr lang="en-US">
              <a:latin typeface="Times New Roman" panose="02020603050405020304" charset="0"/>
              <a:ea typeface="Times New Roman" panose="02020603050405020304"/>
              <a:cs typeface="Times New Roman" panose="02020603050405020304" charset="0"/>
              <a:sym typeface="Times New Roman" panose="02020603050405020304"/>
            </a:endParaRP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Objective</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Software Hardware Specification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Advantages</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Conclusion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References</a:t>
            </a:r>
          </a:p>
        </p:txBody>
      </p:sp>
    </p:spTree>
    <p:extLst>
      <p:ext uri="{BB962C8B-B14F-4D97-AF65-F5344CB8AC3E}">
        <p14:creationId xmlns:p14="http://schemas.microsoft.com/office/powerpoint/2010/main" val="3875486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F0FC9A-CEAC-314A-F085-05A5E61C00D2}"/>
              </a:ext>
            </a:extLst>
          </p:cNvPr>
          <p:cNvSpPr>
            <a:spLocks noGrp="1"/>
          </p:cNvSpPr>
          <p:nvPr>
            <p:ph type="title"/>
          </p:nvPr>
        </p:nvSpPr>
        <p:spPr>
          <a:xfrm>
            <a:off x="686834" y="1153572"/>
            <a:ext cx="3200400" cy="4461163"/>
          </a:xfrm>
        </p:spPr>
        <p:txBody>
          <a:bodyPr>
            <a:normAutofit/>
          </a:bodyPr>
          <a:lstStyle/>
          <a:p>
            <a:r>
              <a:rPr lang="en-IN" sz="4100" b="1">
                <a:solidFill>
                  <a:srgbClr val="FFFFFF"/>
                </a:solidFill>
                <a:latin typeface="Times New Roman" panose="02020603050405020304" pitchFamily="18" charset="0"/>
                <a:cs typeface="Times New Roman" panose="02020603050405020304" pitchFamily="18" charset="0"/>
              </a:rPr>
              <a:t>Introduction</a:t>
            </a:r>
            <a:br>
              <a:rPr lang="en-IN" sz="4100">
                <a:solidFill>
                  <a:srgbClr val="FFFFFF"/>
                </a:solidFill>
                <a:latin typeface="Times New Roman" panose="02020603050405020304" pitchFamily="18" charset="0"/>
                <a:cs typeface="Times New Roman" panose="02020603050405020304" pitchFamily="18" charset="0"/>
              </a:rPr>
            </a:br>
            <a:endParaRPr lang="en-IN" sz="4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330F89A-E2F2-14FC-229B-BEF4CA7BBE53}"/>
              </a:ext>
            </a:extLst>
          </p:cNvPr>
          <p:cNvSpPr>
            <a:spLocks noGrp="1"/>
          </p:cNvSpPr>
          <p:nvPr>
            <p:ph idx="1"/>
          </p:nvPr>
        </p:nvSpPr>
        <p:spPr>
          <a:xfrm>
            <a:off x="4218017" y="162560"/>
            <a:ext cx="7287149" cy="5825569"/>
          </a:xfrm>
        </p:spPr>
        <p:txBody>
          <a:bodyPr anchor="ctr">
            <a:normAutofit fontScale="92500" lnSpcReduction="10000"/>
          </a:bodyPr>
          <a:lstStyle/>
          <a:p>
            <a:pPr marL="0" indent="0" algn="just">
              <a:buNone/>
            </a:pPr>
            <a:r>
              <a:rPr lang="en-US" sz="3200" dirty="0" err="1">
                <a:latin typeface="Times New Roman" panose="02020603050405020304" pitchFamily="18" charset="0"/>
                <a:cs typeface="Times New Roman" panose="02020603050405020304" pitchFamily="18" charset="0"/>
              </a:rPr>
              <a:t>VoiceVerse</a:t>
            </a:r>
            <a:r>
              <a:rPr lang="en-US" sz="3200" dirty="0">
                <a:latin typeface="Times New Roman" panose="02020603050405020304" pitchFamily="18" charset="0"/>
                <a:cs typeface="Times New Roman" panose="02020603050405020304" pitchFamily="18" charset="0"/>
              </a:rPr>
              <a:t> Translator is an AI-based system that helps people talk to each other in different languages. It listens to what a person says, translates the speech into another language, and speaks it out </a:t>
            </a:r>
            <a:r>
              <a:rPr lang="en-US" sz="3200" dirty="0" err="1">
                <a:latin typeface="Times New Roman" panose="02020603050405020304" pitchFamily="18" charset="0"/>
                <a:cs typeface="Times New Roman" panose="02020603050405020304" pitchFamily="18" charset="0"/>
              </a:rPr>
              <a:t>instantly.The</a:t>
            </a:r>
            <a:r>
              <a:rPr lang="en-US" sz="3200" dirty="0">
                <a:latin typeface="Times New Roman" panose="02020603050405020304" pitchFamily="18" charset="0"/>
                <a:cs typeface="Times New Roman" panose="02020603050405020304" pitchFamily="18" charset="0"/>
              </a:rPr>
              <a:t> system uses speech recognition to understand spoken words, AI translation to change the language, and text-to-speech to speak the translation </a:t>
            </a:r>
            <a:r>
              <a:rPr lang="en-US" sz="3200" dirty="0" err="1">
                <a:latin typeface="Times New Roman" panose="02020603050405020304" pitchFamily="18" charset="0"/>
                <a:cs typeface="Times New Roman" panose="02020603050405020304" pitchFamily="18" charset="0"/>
              </a:rPr>
              <a:t>clearly.This</a:t>
            </a:r>
            <a:r>
              <a:rPr lang="en-US" sz="3200" dirty="0">
                <a:latin typeface="Times New Roman" panose="02020603050405020304" pitchFamily="18" charset="0"/>
                <a:cs typeface="Times New Roman" panose="02020603050405020304" pitchFamily="18" charset="0"/>
              </a:rPr>
              <a:t> project makes communication easier for people who don’t share the same language. It can be used in travel, education, meetings, or customer service to help remove language barriers and connect people around the world.</a:t>
            </a:r>
          </a:p>
        </p:txBody>
      </p:sp>
    </p:spTree>
    <p:extLst>
      <p:ext uri="{BB962C8B-B14F-4D97-AF65-F5344CB8AC3E}">
        <p14:creationId xmlns:p14="http://schemas.microsoft.com/office/powerpoint/2010/main" val="337432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5B589C-CB21-9288-43BA-349D7FA0A3A3}"/>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latin typeface="Times New Roman" panose="02020603050405020304" pitchFamily="18" charset="0"/>
                <a:cs typeface="Times New Roman" panose="02020603050405020304" pitchFamily="18" charset="0"/>
              </a:rPr>
              <a:t>Literature Review</a:t>
            </a:r>
          </a:p>
        </p:txBody>
      </p:sp>
      <p:graphicFrame>
        <p:nvGraphicFramePr>
          <p:cNvPr id="3" name="Content Placeholder 2">
            <a:extLst>
              <a:ext uri="{FF2B5EF4-FFF2-40B4-BE49-F238E27FC236}">
                <a16:creationId xmlns:a16="http://schemas.microsoft.com/office/drawing/2014/main" id="{9730E1F1-DC38-ED76-6163-6301FF49FDE4}"/>
              </a:ext>
            </a:extLst>
          </p:cNvPr>
          <p:cNvGraphicFramePr>
            <a:graphicFrameLocks noGrp="1"/>
          </p:cNvGraphicFramePr>
          <p:nvPr>
            <p:ph idx="1"/>
            <p:extLst>
              <p:ext uri="{D42A27DB-BD31-4B8C-83A1-F6EECF244321}">
                <p14:modId xmlns:p14="http://schemas.microsoft.com/office/powerpoint/2010/main" val="4286463477"/>
              </p:ext>
            </p:extLst>
          </p:nvPr>
        </p:nvGraphicFramePr>
        <p:xfrm>
          <a:off x="632085" y="2040749"/>
          <a:ext cx="10927830" cy="4123817"/>
        </p:xfrm>
        <a:graphic>
          <a:graphicData uri="http://schemas.openxmlformats.org/drawingml/2006/table">
            <a:tbl>
              <a:tblPr firstRow="1" bandRow="1">
                <a:tableStyleId>{5940675A-B579-460E-94D1-54222C63F5DA}</a:tableStyleId>
              </a:tblPr>
              <a:tblGrid>
                <a:gridCol w="637944">
                  <a:extLst>
                    <a:ext uri="{9D8B030D-6E8A-4147-A177-3AD203B41FA5}">
                      <a16:colId xmlns:a16="http://schemas.microsoft.com/office/drawing/2014/main" val="2710160738"/>
                    </a:ext>
                  </a:extLst>
                </a:gridCol>
                <a:gridCol w="3276154">
                  <a:extLst>
                    <a:ext uri="{9D8B030D-6E8A-4147-A177-3AD203B41FA5}">
                      <a16:colId xmlns:a16="http://schemas.microsoft.com/office/drawing/2014/main" val="3875518407"/>
                    </a:ext>
                  </a:extLst>
                </a:gridCol>
                <a:gridCol w="2085910">
                  <a:extLst>
                    <a:ext uri="{9D8B030D-6E8A-4147-A177-3AD203B41FA5}">
                      <a16:colId xmlns:a16="http://schemas.microsoft.com/office/drawing/2014/main" val="3356012082"/>
                    </a:ext>
                  </a:extLst>
                </a:gridCol>
                <a:gridCol w="4927822">
                  <a:extLst>
                    <a:ext uri="{9D8B030D-6E8A-4147-A177-3AD203B41FA5}">
                      <a16:colId xmlns:a16="http://schemas.microsoft.com/office/drawing/2014/main" val="3454548035"/>
                    </a:ext>
                  </a:extLst>
                </a:gridCol>
              </a:tblGrid>
              <a:tr h="6202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latin typeface="Times New Roman" panose="02020603050405020304" pitchFamily="18" charset="0"/>
                          <a:cs typeface="Times New Roman" panose="02020603050405020304" pitchFamily="18" charset="0"/>
                        </a:rPr>
                        <a:t>Ref. No </a:t>
                      </a:r>
                      <a:endParaRPr lang="en-IN" sz="1600">
                        <a:latin typeface="Times New Roman" panose="02020603050405020304" pitchFamily="18" charset="0"/>
                        <a:cs typeface="Times New Roman" panose="02020603050405020304" pitchFamily="18" charset="0"/>
                      </a:endParaRPr>
                    </a:p>
                  </a:txBody>
                  <a:tcPr marL="83817" marR="83817" marT="41909" marB="41909"/>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Reference  Papers/Books Name </a:t>
                      </a:r>
                      <a:endParaRPr lang="en-IN" sz="1600" b="1" dirty="0">
                        <a:latin typeface="Times New Roman" panose="02020603050405020304" pitchFamily="18" charset="0"/>
                        <a:cs typeface="Times New Roman" panose="02020603050405020304" pitchFamily="18" charset="0"/>
                      </a:endParaRPr>
                    </a:p>
                  </a:txBody>
                  <a:tcPr marL="83817" marR="83817" marT="41909" marB="41909"/>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latin typeface="Times New Roman" panose="02020603050405020304" pitchFamily="18" charset="0"/>
                          <a:cs typeface="Times New Roman" panose="02020603050405020304" pitchFamily="18" charset="0"/>
                        </a:rPr>
                        <a:t>Author Name </a:t>
                      </a:r>
                      <a:endParaRPr lang="en-IN" sz="1600" b="1">
                        <a:latin typeface="Times New Roman" panose="02020603050405020304" pitchFamily="18" charset="0"/>
                        <a:cs typeface="Times New Roman" panose="02020603050405020304" pitchFamily="18" charset="0"/>
                      </a:endParaRPr>
                    </a:p>
                  </a:txBody>
                  <a:tcPr marL="83817" marR="83817" marT="41909" marB="41909"/>
                </a:tc>
                <a:tc>
                  <a:txBody>
                    <a:bodyPr/>
                    <a:lstStyle/>
                    <a:p>
                      <a:pPr algn="ctr"/>
                      <a:r>
                        <a:rPr lang="en-US" sz="1600" b="1">
                          <a:latin typeface="Times New Roman" panose="02020603050405020304" pitchFamily="18" charset="0"/>
                          <a:cs typeface="Times New Roman" panose="02020603050405020304" pitchFamily="18" charset="0"/>
                        </a:rPr>
                        <a:t>Description</a:t>
                      </a:r>
                      <a:endParaRPr lang="en-US" sz="1600">
                        <a:latin typeface="Times New Roman" panose="02020603050405020304" pitchFamily="18" charset="0"/>
                        <a:cs typeface="Times New Roman" panose="02020603050405020304" pitchFamily="18" charset="0"/>
                      </a:endParaRPr>
                    </a:p>
                  </a:txBody>
                  <a:tcPr marL="83817" marR="83817" marT="41909" marB="41909"/>
                </a:tc>
                <a:extLst>
                  <a:ext uri="{0D108BD9-81ED-4DB2-BD59-A6C34878D82A}">
                    <a16:rowId xmlns:a16="http://schemas.microsoft.com/office/drawing/2014/main" val="3620235572"/>
                  </a:ext>
                </a:extLst>
              </a:tr>
              <a:tr h="1626058">
                <a:tc>
                  <a:txBody>
                    <a:bodyPr/>
                    <a:lstStyle/>
                    <a:p>
                      <a:pPr algn="ctr"/>
                      <a:r>
                        <a:rPr lang="en-US" sz="1600">
                          <a:latin typeface="Times New Roman" panose="02020603050405020304" pitchFamily="18" charset="0"/>
                          <a:cs typeface="Times New Roman" panose="02020603050405020304" pitchFamily="18" charset="0"/>
                        </a:rPr>
                        <a:t>1.</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Real-Time Speech-to-Speech Translation for PDAs</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 Prasad, </a:t>
                      </a:r>
                    </a:p>
                    <a:p>
                      <a:pPr algn="just"/>
                      <a:r>
                        <a:rPr lang="en-US" sz="1600">
                          <a:latin typeface="Times New Roman" panose="02020603050405020304" pitchFamily="18" charset="0"/>
                          <a:cs typeface="Times New Roman" panose="02020603050405020304" pitchFamily="18" charset="0"/>
                        </a:rPr>
                        <a:t>K. Krstovski,</a:t>
                      </a:r>
                    </a:p>
                    <a:p>
                      <a:pPr algn="just"/>
                      <a:r>
                        <a:rPr lang="en-US" sz="1600">
                          <a:latin typeface="Times New Roman" panose="02020603050405020304" pitchFamily="18" charset="0"/>
                          <a:cs typeface="Times New Roman" panose="02020603050405020304" pitchFamily="18" charset="0"/>
                        </a:rPr>
                        <a:t> F. Choi,</a:t>
                      </a:r>
                    </a:p>
                    <a:p>
                      <a:pPr algn="just"/>
                      <a:r>
                        <a:rPr lang="en-US" sz="1600">
                          <a:latin typeface="Times New Roman" panose="02020603050405020304" pitchFamily="18" charset="0"/>
                          <a:cs typeface="Times New Roman" panose="02020603050405020304" pitchFamily="18" charset="0"/>
                        </a:rPr>
                        <a:t> S. Saleem,</a:t>
                      </a:r>
                    </a:p>
                  </a:txBody>
                  <a:tcPr marL="83817" marR="83817" marT="41909" marB="41909"/>
                </a:tc>
                <a:tc>
                  <a:txBody>
                    <a:bodyPr/>
                    <a:lstStyle/>
                    <a:p>
                      <a:pPr algn="l"/>
                      <a:r>
                        <a:rPr lang="en-US" sz="1600" b="1">
                          <a:latin typeface="Times New Roman" panose="02020603050405020304" pitchFamily="18" charset="0"/>
                          <a:cs typeface="Times New Roman" panose="02020603050405020304" pitchFamily="18" charset="0"/>
                        </a:rPr>
                        <a:t>Real-Time Speech-to-Speech Translation for PDAs</a:t>
                      </a:r>
                      <a:r>
                        <a:rPr lang="en-US" sz="1600">
                          <a:latin typeface="Times New Roman" panose="02020603050405020304" pitchFamily="18" charset="0"/>
                          <a:cs typeface="Times New Roman" panose="02020603050405020304" pitchFamily="18" charset="0"/>
                        </a:rPr>
                        <a:t> is a system that helps people who speak different languages communicate easily. It listens to what a person says, converts the speech into text, translates it into another language, and then speaks it out loud in that language — all in real time. </a:t>
                      </a:r>
                    </a:p>
                  </a:txBody>
                  <a:tcPr marL="83817" marR="83817" marT="41909" marB="41909"/>
                </a:tc>
                <a:extLst>
                  <a:ext uri="{0D108BD9-81ED-4DB2-BD59-A6C34878D82A}">
                    <a16:rowId xmlns:a16="http://schemas.microsoft.com/office/drawing/2014/main" val="3942415331"/>
                  </a:ext>
                </a:extLst>
              </a:tr>
              <a:tr h="1877510">
                <a:tc>
                  <a:txBody>
                    <a:bodyPr/>
                    <a:lstStyle/>
                    <a:p>
                      <a:pPr algn="ctr"/>
                      <a:r>
                        <a:rPr lang="en-US" sz="1600">
                          <a:latin typeface="Times New Roman" panose="02020603050405020304" pitchFamily="18" charset="0"/>
                          <a:cs typeface="Times New Roman" panose="02020603050405020304" pitchFamily="18" charset="0"/>
                        </a:rPr>
                        <a:t>2.</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Real-Time Text &amp; Speech Translation Using Sequence To Sequence Approach </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Dikshita Patel,</a:t>
                      </a:r>
                    </a:p>
                    <a:p>
                      <a:pPr algn="just"/>
                      <a:r>
                        <a:rPr lang="en-US" sz="1600">
                          <a:latin typeface="Times New Roman" panose="02020603050405020304" pitchFamily="18" charset="0"/>
                          <a:cs typeface="Times New Roman" panose="02020603050405020304" pitchFamily="18" charset="0"/>
                        </a:rPr>
                        <a:t>Minakshi Kudalkar ,</a:t>
                      </a:r>
                    </a:p>
                    <a:p>
                      <a:pPr algn="just"/>
                      <a:r>
                        <a:rPr lang="en-US" sz="1600">
                          <a:latin typeface="Times New Roman" panose="02020603050405020304" pitchFamily="18" charset="0"/>
                          <a:cs typeface="Times New Roman" panose="02020603050405020304" pitchFamily="18" charset="0"/>
                        </a:rPr>
                        <a:t>Shashank Gupta ,</a:t>
                      </a:r>
                    </a:p>
                    <a:p>
                      <a:pPr algn="just"/>
                      <a:r>
                        <a:rPr lang="en-US" sz="1600">
                          <a:latin typeface="Times New Roman" panose="02020603050405020304" pitchFamily="18" charset="0"/>
                          <a:cs typeface="Times New Roman" panose="02020603050405020304" pitchFamily="18" charset="0"/>
                        </a:rPr>
                        <a:t>Renuka Pawar</a:t>
                      </a:r>
                    </a:p>
                  </a:txBody>
                  <a:tcPr marL="83817" marR="83817" marT="41909" marB="41909"/>
                </a:tc>
                <a:tc>
                  <a:txBody>
                    <a:bodyPr/>
                    <a:lstStyle/>
                    <a:p>
                      <a:pPr algn="l"/>
                      <a:r>
                        <a:rPr lang="en-US" sz="1600" dirty="0">
                          <a:latin typeface="Times New Roman" panose="02020603050405020304" pitchFamily="18" charset="0"/>
                          <a:cs typeface="Times New Roman" panose="02020603050405020304" pitchFamily="18" charset="0"/>
                        </a:rPr>
                        <a:t>The paper </a:t>
                      </a:r>
                      <a:r>
                        <a:rPr lang="en-US" sz="1600" b="1" dirty="0">
                          <a:latin typeface="Times New Roman" panose="02020603050405020304" pitchFamily="18" charset="0"/>
                          <a:cs typeface="Times New Roman" panose="02020603050405020304" pitchFamily="18" charset="0"/>
                        </a:rPr>
                        <a:t>“Real-Time Text &amp; Speech Translation Using Sequence-to-Sequence Approach”</a:t>
                      </a:r>
                      <a:r>
                        <a:rPr lang="en-US" sz="1600" dirty="0">
                          <a:latin typeface="Times New Roman" panose="02020603050405020304" pitchFamily="18" charset="0"/>
                          <a:cs typeface="Times New Roman" panose="02020603050405020304" pitchFamily="18" charset="0"/>
                        </a:rPr>
                        <a:t> describes a system that helps people talk or chat in different languages in real time. It listens to speech, turns it into text, translates it into another language, and then speaks it back instantly. The system uses a </a:t>
                      </a:r>
                      <a:r>
                        <a:rPr lang="en-US" sz="1600" b="1" dirty="0">
                          <a:latin typeface="Times New Roman" panose="02020603050405020304" pitchFamily="18" charset="0"/>
                          <a:cs typeface="Times New Roman" panose="02020603050405020304" pitchFamily="18" charset="0"/>
                        </a:rPr>
                        <a:t>CNN-based model</a:t>
                      </a:r>
                      <a:r>
                        <a:rPr lang="en-US" sz="1600" dirty="0">
                          <a:latin typeface="Times New Roman" panose="02020603050405020304" pitchFamily="18" charset="0"/>
                          <a:cs typeface="Times New Roman" panose="02020603050405020304" pitchFamily="18" charset="0"/>
                        </a:rPr>
                        <a:t> for faster and more accurate translation. </a:t>
                      </a:r>
                    </a:p>
                  </a:txBody>
                  <a:tcPr marL="83817" marR="83817" marT="41909" marB="41909"/>
                </a:tc>
                <a:extLst>
                  <a:ext uri="{0D108BD9-81ED-4DB2-BD59-A6C34878D82A}">
                    <a16:rowId xmlns:a16="http://schemas.microsoft.com/office/drawing/2014/main" val="362041869"/>
                  </a:ext>
                </a:extLst>
              </a:tr>
            </a:tbl>
          </a:graphicData>
        </a:graphic>
      </p:graphicFrame>
    </p:spTree>
    <p:extLst>
      <p:ext uri="{BB962C8B-B14F-4D97-AF65-F5344CB8AC3E}">
        <p14:creationId xmlns:p14="http://schemas.microsoft.com/office/powerpoint/2010/main" val="157527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5DF1B5EC-BF04-AADC-BB80-2205680BBA7A}"/>
              </a:ext>
            </a:extLst>
          </p:cNvPr>
          <p:cNvGraphicFramePr>
            <a:graphicFrameLocks/>
          </p:cNvGraphicFramePr>
          <p:nvPr>
            <p:extLst>
              <p:ext uri="{D42A27DB-BD31-4B8C-83A1-F6EECF244321}">
                <p14:modId xmlns:p14="http://schemas.microsoft.com/office/powerpoint/2010/main" val="3058527140"/>
              </p:ext>
            </p:extLst>
          </p:nvPr>
        </p:nvGraphicFramePr>
        <p:xfrm>
          <a:off x="408709" y="945573"/>
          <a:ext cx="11679382" cy="5625581"/>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710160738"/>
                    </a:ext>
                  </a:extLst>
                </a:gridCol>
                <a:gridCol w="3449781">
                  <a:extLst>
                    <a:ext uri="{9D8B030D-6E8A-4147-A177-3AD203B41FA5}">
                      <a16:colId xmlns:a16="http://schemas.microsoft.com/office/drawing/2014/main" val="3875518407"/>
                    </a:ext>
                  </a:extLst>
                </a:gridCol>
                <a:gridCol w="2275609">
                  <a:extLst>
                    <a:ext uri="{9D8B030D-6E8A-4147-A177-3AD203B41FA5}">
                      <a16:colId xmlns:a16="http://schemas.microsoft.com/office/drawing/2014/main" val="3356012082"/>
                    </a:ext>
                  </a:extLst>
                </a:gridCol>
                <a:gridCol w="5268192">
                  <a:extLst>
                    <a:ext uri="{9D8B030D-6E8A-4147-A177-3AD203B41FA5}">
                      <a16:colId xmlns:a16="http://schemas.microsoft.com/office/drawing/2014/main" val="3454548035"/>
                    </a:ext>
                  </a:extLst>
                </a:gridCol>
              </a:tblGrid>
              <a:tr h="739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Ref. No </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Reference  Papers/Books Name </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Author Name </a:t>
                      </a:r>
                      <a:endParaRPr lang="en-IN" sz="1800" b="1" dirty="0">
                        <a:latin typeface="Times New Roman" panose="02020603050405020304" pitchFamily="18" charset="0"/>
                        <a:cs typeface="Times New Roman" panose="02020603050405020304" pitchFamily="18" charset="0"/>
                      </a:endParaRPr>
                    </a:p>
                  </a:txBody>
                  <a:tcPr/>
                </a:tc>
                <a:tc>
                  <a:txBody>
                    <a:bodyPr/>
                    <a:lstStyle/>
                    <a:p>
                      <a:pPr algn="ctr"/>
                      <a:r>
                        <a:rPr lang="en-US" sz="1800" b="1" dirty="0">
                          <a:latin typeface="Times New Roman" panose="02020603050405020304" pitchFamily="18" charset="0"/>
                          <a:cs typeface="Times New Roman" panose="02020603050405020304" pitchFamily="18" charset="0"/>
                        </a:rPr>
                        <a:t>Description</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0235572"/>
                  </a:ext>
                </a:extLst>
              </a:tr>
              <a:tr h="2008273">
                <a:tc>
                  <a:txBody>
                    <a:bodyPr/>
                    <a:lstStyle/>
                    <a:p>
                      <a:pPr algn="ctr"/>
                      <a:r>
                        <a:rPr lang="en-US" sz="1800" dirty="0">
                          <a:latin typeface="Times New Roman" panose="02020603050405020304" pitchFamily="18" charset="0"/>
                          <a:cs typeface="Times New Roman" panose="02020603050405020304" pitchFamily="18" charset="0"/>
                        </a:rPr>
                        <a:t>3.</a:t>
                      </a:r>
                    </a:p>
                  </a:txBody>
                  <a:tcPr/>
                </a:tc>
                <a:tc>
                  <a:txBody>
                    <a:bodyPr/>
                    <a:lstStyle/>
                    <a:p>
                      <a:pPr algn="just"/>
                      <a:r>
                        <a:rPr lang="en-US" dirty="0">
                          <a:latin typeface="Times New Roman" panose="02020603050405020304" pitchFamily="18" charset="0"/>
                          <a:cs typeface="Times New Roman" panose="02020603050405020304" pitchFamily="18" charset="0"/>
                        </a:rPr>
                        <a:t>Real Time Voice Translator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Darshan </a:t>
                      </a:r>
                      <a:r>
                        <a:rPr lang="en-US" dirty="0" err="1">
                          <a:latin typeface="Times New Roman" panose="02020603050405020304" pitchFamily="18" charset="0"/>
                          <a:cs typeface="Times New Roman" panose="02020603050405020304" pitchFamily="18" charset="0"/>
                        </a:rPr>
                        <a:t>Shilvant</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 Ejaz Sayyed,</a:t>
                      </a:r>
                    </a:p>
                    <a:p>
                      <a:pPr algn="just"/>
                      <a:r>
                        <a:rPr lang="en-US" dirty="0">
                          <a:latin typeface="Times New Roman" panose="02020603050405020304" pitchFamily="18" charset="0"/>
                          <a:cs typeface="Times New Roman" panose="02020603050405020304" pitchFamily="18" charset="0"/>
                        </a:rPr>
                        <a:t> Sarang Jagdale,</a:t>
                      </a:r>
                    </a:p>
                    <a:p>
                      <a:pPr algn="just"/>
                      <a:r>
                        <a:rPr lang="en-US" dirty="0">
                          <a:latin typeface="Times New Roman" panose="02020603050405020304" pitchFamily="18" charset="0"/>
                          <a:cs typeface="Times New Roman" panose="02020603050405020304" pitchFamily="18" charset="0"/>
                        </a:rPr>
                        <a:t> Prof. Rachika</a:t>
                      </a:r>
                    </a:p>
                    <a:p>
                      <a:pPr algn="just"/>
                      <a:r>
                        <a:rPr lang="en-US" dirty="0">
                          <a:latin typeface="Times New Roman" panose="02020603050405020304" pitchFamily="18" charset="0"/>
                          <a:cs typeface="Times New Roman" panose="02020603050405020304" pitchFamily="18" charset="0"/>
                        </a:rPr>
                        <a:t> Waghmare</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Real-Time Voice Translator</a:t>
                      </a:r>
                      <a:r>
                        <a:rPr lang="en-US" dirty="0">
                          <a:latin typeface="Times New Roman" panose="02020603050405020304" pitchFamily="18" charset="0"/>
                          <a:cs typeface="Times New Roman" panose="02020603050405020304" pitchFamily="18" charset="0"/>
                        </a:rPr>
                        <a:t> is a system that listens to what a person says in one language, translates it instantly into another language, and then speaks it out loud. It helps people who speak different languages communicate easily without waiting or needing a third person. The translator uses speech recognition, language translation, and text-to-speech technology to give fast and accurate results, making conversations smooth and natural</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2415331"/>
                  </a:ext>
                </a:extLst>
              </a:tr>
              <a:tr h="2325370">
                <a:tc>
                  <a:txBody>
                    <a:bodyPr/>
                    <a:lstStyle/>
                    <a:p>
                      <a:pPr algn="ctr"/>
                      <a:r>
                        <a:rPr lang="en-US" sz="1800" dirty="0">
                          <a:latin typeface="Times New Roman" panose="02020603050405020304" pitchFamily="18" charset="0"/>
                          <a:cs typeface="Times New Roman" panose="02020603050405020304" pitchFamily="18" charset="0"/>
                        </a:rPr>
                        <a:t>4.</a:t>
                      </a:r>
                    </a:p>
                  </a:txBody>
                  <a:tcPr/>
                </a:tc>
                <a:tc>
                  <a:txBody>
                    <a:bodyPr/>
                    <a:lstStyle/>
                    <a:p>
                      <a:pPr algn="just"/>
                      <a:r>
                        <a:rPr lang="en-US" dirty="0">
                          <a:latin typeface="Times New Roman" panose="02020603050405020304" pitchFamily="18" charset="0"/>
                          <a:cs typeface="Times New Roman" panose="02020603050405020304" pitchFamily="18" charset="0"/>
                        </a:rPr>
                        <a:t>REAL TIME LANGUAGE TRANSLATOR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Siddhi </a:t>
                      </a:r>
                      <a:r>
                        <a:rPr lang="en-US" dirty="0" err="1">
                          <a:latin typeface="Times New Roman" panose="02020603050405020304" pitchFamily="18" charset="0"/>
                          <a:cs typeface="Times New Roman" panose="02020603050405020304" pitchFamily="18" charset="0"/>
                        </a:rPr>
                        <a:t>Divate</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Gajashree</a:t>
                      </a:r>
                      <a:r>
                        <a:rPr lang="en-US" dirty="0">
                          <a:latin typeface="Times New Roman" panose="02020603050405020304" pitchFamily="18" charset="0"/>
                          <a:cs typeface="Times New Roman" panose="02020603050405020304" pitchFamily="18" charset="0"/>
                        </a:rPr>
                        <a:t> Biradar,</a:t>
                      </a:r>
                    </a:p>
                    <a:p>
                      <a:pPr algn="just"/>
                      <a:r>
                        <a:rPr lang="en-US" dirty="0">
                          <a:latin typeface="Times New Roman" panose="02020603050405020304" pitchFamily="18" charset="0"/>
                          <a:cs typeface="Times New Roman" panose="02020603050405020304" pitchFamily="18" charset="0"/>
                        </a:rPr>
                        <a:t> Amruta Patole,</a:t>
                      </a:r>
                    </a:p>
                    <a:p>
                      <a:pPr algn="just"/>
                      <a:r>
                        <a:rPr lang="en-US" dirty="0">
                          <a:latin typeface="Times New Roman" panose="02020603050405020304" pitchFamily="18" charset="0"/>
                          <a:cs typeface="Times New Roman" panose="02020603050405020304" pitchFamily="18" charset="0"/>
                        </a:rPr>
                        <a:t> Nikat Attar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Real-Time Language Translator</a:t>
                      </a:r>
                      <a:r>
                        <a:rPr lang="en-US" dirty="0">
                          <a:latin typeface="Times New Roman" panose="02020603050405020304" pitchFamily="18" charset="0"/>
                          <a:cs typeface="Times New Roman" panose="02020603050405020304" pitchFamily="18" charset="0"/>
                        </a:rPr>
                        <a:t> is a system that quickly translates spoken or written words from one language to another as the conversation happens. It uses speech recognition to understand the input, machine translation to convert it, and text-to-speech to speak the translated output</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041869"/>
                  </a:ext>
                </a:extLst>
              </a:tr>
            </a:tbl>
          </a:graphicData>
        </a:graphic>
      </p:graphicFrame>
    </p:spTree>
    <p:extLst>
      <p:ext uri="{BB962C8B-B14F-4D97-AF65-F5344CB8AC3E}">
        <p14:creationId xmlns:p14="http://schemas.microsoft.com/office/powerpoint/2010/main" val="1115464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7F9438-3441-64E4-566E-B4C3B67136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4DBC7-7CA4-0AD3-D6C0-F75762EA3803}"/>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B95081-C851-3223-0336-3A0822E96888}"/>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In today’s world, people often need to communicate with others who speak different languages. However, language barriers make it difficult to understand each other and share ideas. Existing translation tools are often slow, require typing, or do not work well in real-time conversations.</a:t>
            </a:r>
          </a:p>
        </p:txBody>
      </p:sp>
    </p:spTree>
    <p:extLst>
      <p:ext uri="{BB962C8B-B14F-4D97-AF65-F5344CB8AC3E}">
        <p14:creationId xmlns:p14="http://schemas.microsoft.com/office/powerpoint/2010/main" val="1322638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27E1F5-B116-28E4-C62A-FBE94522D23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6AB6F3-26AD-97D7-2C66-187A79EF9A21}"/>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Existing System</a:t>
            </a:r>
            <a:endParaRPr lang="en-US"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72EF2D6-D786-39B6-09B4-AD93961A44C3}"/>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In the existing systems, most language translators work through text input or pre-recorded audio. Users have to type or record their message first and then wait for the translation. Some mobile apps, like Google Translate, can translate speech, but they often need internet access, may have delay in real-time translation, and sometimes give inaccurate results depending on accent or background noise.</a:t>
            </a:r>
          </a:p>
        </p:txBody>
      </p:sp>
    </p:spTree>
    <p:extLst>
      <p:ext uri="{BB962C8B-B14F-4D97-AF65-F5344CB8AC3E}">
        <p14:creationId xmlns:p14="http://schemas.microsoft.com/office/powerpoint/2010/main" val="100723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4FC5FF-0951-6B9E-0E2D-27A870F14489}"/>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F8CABE-4CFB-6D8A-B6DA-62F730D78AA4}"/>
              </a:ext>
            </a:extLst>
          </p:cNvPr>
          <p:cNvSpPr>
            <a:spLocks noGrp="1"/>
          </p:cNvSpPr>
          <p:nvPr>
            <p:ph type="title"/>
          </p:nvPr>
        </p:nvSpPr>
        <p:spPr>
          <a:xfrm>
            <a:off x="640080" y="2074363"/>
            <a:ext cx="2752354" cy="2709275"/>
          </a:xfrm>
          <a:prstGeom prst="ellipse">
            <a:avLst/>
          </a:prstGeom>
          <a:solidFill>
            <a:schemeClr val="accent2"/>
          </a:solidFill>
          <a:ln w="174625" cmpd="thinThick">
            <a:solidFill>
              <a:srgbClr val="262626"/>
            </a:solidFill>
          </a:ln>
        </p:spPr>
        <p:txBody>
          <a:bodyPr vert="horz" lIns="91440" tIns="45720" rIns="91440" bIns="45720" rtlCol="0" anchor="ctr">
            <a:normAutofit/>
          </a:bodyPr>
          <a:lstStyle/>
          <a:p>
            <a:pPr algn="ctr"/>
            <a:r>
              <a:rPr lang="en-US" sz="2400" b="1" kern="1200">
                <a:solidFill>
                  <a:srgbClr val="FFFFFF"/>
                </a:solidFill>
                <a:latin typeface="+mj-lt"/>
                <a:ea typeface="+mj-ea"/>
                <a:cs typeface="+mj-cs"/>
              </a:rPr>
              <a:t>Methodology </a:t>
            </a:r>
          </a:p>
        </p:txBody>
      </p:sp>
      <p:sp>
        <p:nvSpPr>
          <p:cNvPr id="7" name="Content Placeholder 6">
            <a:extLst>
              <a:ext uri="{FF2B5EF4-FFF2-40B4-BE49-F238E27FC236}">
                <a16:creationId xmlns:a16="http://schemas.microsoft.com/office/drawing/2014/main" id="{75591CC8-37CC-3560-7B61-56D69F246D0E}"/>
              </a:ext>
            </a:extLst>
          </p:cNvPr>
          <p:cNvSpPr>
            <a:spLocks noGrp="1"/>
          </p:cNvSpPr>
          <p:nvPr>
            <p:ph idx="1"/>
          </p:nvPr>
        </p:nvSpPr>
        <p:spPr>
          <a:xfrm flipV="1">
            <a:off x="1484310" y="7361382"/>
            <a:ext cx="10018713" cy="314036"/>
          </a:xfrm>
        </p:spPr>
        <p:txBody>
          <a:bodyPr>
            <a:normAutofit fontScale="92500" lnSpcReduction="10000"/>
          </a:bodyPr>
          <a:lstStyle/>
          <a:p>
            <a:pPr marL="0" indent="0">
              <a:buNone/>
            </a:pPr>
            <a:r>
              <a:rPr lang="en-IN" sz="1800"/>
              <a:t> </a:t>
            </a:r>
          </a:p>
        </p:txBody>
      </p:sp>
      <p:sp>
        <p:nvSpPr>
          <p:cNvPr id="49" name="Content Placeholder 2">
            <a:extLst>
              <a:ext uri="{FF2B5EF4-FFF2-40B4-BE49-F238E27FC236}">
                <a16:creationId xmlns:a16="http://schemas.microsoft.com/office/drawing/2014/main" id="{F5AD807C-31FE-2F63-35F8-C6175A5DF105}"/>
              </a:ext>
            </a:extLst>
          </p:cNvPr>
          <p:cNvSpPr txBox="1">
            <a:spLocks/>
          </p:cNvSpPr>
          <p:nvPr/>
        </p:nvSpPr>
        <p:spPr>
          <a:xfrm>
            <a:off x="884903" y="7518400"/>
            <a:ext cx="9212405" cy="5523346"/>
          </a:xfrm>
          <a:prstGeom prst="rect">
            <a:avLst/>
          </a:prstGeom>
        </p:spPr>
        <p:txBody>
          <a:bodyPr vert="horz" lIns="91440" tIns="45720" rIns="91440" bIns="45720" rtlCol="0">
            <a:normAutofit/>
          </a:bodyPr>
          <a:lstStyle>
            <a:defPPr>
              <a:defRPr lang="en-US"/>
            </a:defPPr>
            <a:lvl1pPr indent="0">
              <a:lnSpc>
                <a:spcPct val="9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lnSpc>
                <a:spcPct val="100000"/>
              </a:lnSpc>
            </a:pPr>
            <a:endParaRPr lang="en-IN" sz="3200" dirty="0">
              <a:latin typeface="Times New Roman" panose="02020603050405020304" pitchFamily="18" charset="0"/>
              <a:cs typeface="Times New Roman" panose="02020603050405020304" pitchFamily="18" charset="0"/>
            </a:endParaRPr>
          </a:p>
        </p:txBody>
      </p:sp>
      <p:pic>
        <p:nvPicPr>
          <p:cNvPr id="5" name="Picture 4" descr="A diagram of a voice translation system&#10;&#10;AI-generated content may be incorrect.">
            <a:extLst>
              <a:ext uri="{FF2B5EF4-FFF2-40B4-BE49-F238E27FC236}">
                <a16:creationId xmlns:a16="http://schemas.microsoft.com/office/drawing/2014/main" id="{7B5D2141-A931-D107-79D0-B42EC30CC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2434" y="0"/>
            <a:ext cx="8799566" cy="6858000"/>
          </a:xfrm>
          <a:prstGeom prst="rect">
            <a:avLst/>
          </a:prstGeom>
        </p:spPr>
      </p:pic>
    </p:spTree>
    <p:extLst>
      <p:ext uri="{BB962C8B-B14F-4D97-AF65-F5344CB8AC3E}">
        <p14:creationId xmlns:p14="http://schemas.microsoft.com/office/powerpoint/2010/main" val="1663359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5EEDC6-FC83-1095-A920-78F9AF6DB982}"/>
              </a:ext>
            </a:extLst>
          </p:cNvPr>
          <p:cNvSpPr>
            <a:spLocks noGrp="1"/>
          </p:cNvSpPr>
          <p:nvPr>
            <p:ph type="title"/>
          </p:nvPr>
        </p:nvSpPr>
        <p:spPr>
          <a:xfrm>
            <a:off x="686834" y="1153572"/>
            <a:ext cx="3200400" cy="4461163"/>
          </a:xfrm>
        </p:spPr>
        <p:txBody>
          <a:bodyPr>
            <a:normAutofit/>
          </a:bodyPr>
          <a:lstStyle/>
          <a:p>
            <a:r>
              <a:rPr lang="en-IN" b="1">
                <a:solidFill>
                  <a:srgbClr val="FFFFFF"/>
                </a:solidFill>
                <a:latin typeface="Times New Roman" panose="02020603050405020304" pitchFamily="18" charset="0"/>
                <a:cs typeface="Times New Roman" panose="02020603050405020304" pitchFamily="18" charset="0"/>
              </a:rPr>
              <a:t>Objective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8526E1-6A94-7EDF-1633-E33985041555}"/>
              </a:ext>
            </a:extLst>
          </p:cNvPr>
          <p:cNvSpPr>
            <a:spLocks noGrp="1"/>
          </p:cNvSpPr>
          <p:nvPr>
            <p:ph idx="1"/>
          </p:nvPr>
        </p:nvSpPr>
        <p:spPr>
          <a:xfrm>
            <a:off x="4447308" y="591344"/>
            <a:ext cx="6906491" cy="5585619"/>
          </a:xfrm>
        </p:spPr>
        <p:txBody>
          <a:bodyPr anchor="ctr">
            <a:norm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develop a system that can translate spoken language in real time.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use AI and speech recognition for accurate voice detection and translation.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convert the translated text into natural-sounding speech.</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help people communicate easily across different languages.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create a fast, user-friendly, and efficient translation tool for daily use.</a:t>
            </a:r>
          </a:p>
        </p:txBody>
      </p:sp>
    </p:spTree>
    <p:extLst>
      <p:ext uri="{BB962C8B-B14F-4D97-AF65-F5344CB8AC3E}">
        <p14:creationId xmlns:p14="http://schemas.microsoft.com/office/powerpoint/2010/main" val="1002199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4"/>
        <p:cNvGrpSpPr/>
        <p:nvPr/>
      </p:nvGrpSpPr>
      <p:grpSpPr>
        <a:xfrm>
          <a:off x="0" y="0"/>
          <a:ext cx="0" cy="0"/>
          <a:chOff x="0" y="0"/>
          <a:chExt cx="0" cy="0"/>
        </a:xfrm>
      </p:grpSpPr>
      <p:sp useBgFill="1">
        <p:nvSpPr>
          <p:cNvPr id="110" name="Rectangle 10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reeform: Shape 1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22"/>
          <p:cNvSpPr txBox="1">
            <a:spLocks noGrp="1"/>
          </p:cNvSpPr>
          <p:nvPr>
            <p:ph type="title"/>
          </p:nvPr>
        </p:nvSpPr>
        <p:spPr>
          <a:xfrm>
            <a:off x="686834" y="1153572"/>
            <a:ext cx="3200400" cy="4461163"/>
          </a:xfrm>
          <a:prstGeom prst="rect">
            <a:avLst/>
          </a:prstGeom>
        </p:spPr>
        <p:txBody>
          <a:bodyPr spcFirstLastPara="1" vert="horz" lIns="91440" tIns="45720" rIns="91440" bIns="45720" rtlCol="0" anchor="ctr" anchorCtr="0">
            <a:normAutofit/>
          </a:bodyPr>
          <a:lstStyle/>
          <a:p>
            <a:r>
              <a:rPr lang="en-US" sz="4100" b="1" kern="1200">
                <a:solidFill>
                  <a:srgbClr val="FFFFFF"/>
                </a:solidFill>
                <a:latin typeface="+mj-lt"/>
                <a:ea typeface="+mj-ea"/>
                <a:cs typeface="+mj-cs"/>
              </a:rPr>
              <a:t>Software &amp; Hardware Requirement </a:t>
            </a:r>
          </a:p>
        </p:txBody>
      </p:sp>
      <p:sp>
        <p:nvSpPr>
          <p:cNvPr id="114" name="Arc 1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ext Box 1"/>
          <p:cNvSpPr txBox="1"/>
          <p:nvPr/>
        </p:nvSpPr>
        <p:spPr>
          <a:xfrm>
            <a:off x="4447308" y="591344"/>
            <a:ext cx="6906491" cy="5585619"/>
          </a:xfrm>
          <a:prstGeom prst="rect">
            <a:avLst/>
          </a:prstGeom>
        </p:spPr>
        <p:txBody>
          <a:bodyPr vert="horz" lIns="91440" tIns="45720" rIns="91440" bIns="45720" rtlCol="0" anchor="ctr">
            <a:normAutofit/>
          </a:bodyPr>
          <a:lstStyle/>
          <a:p>
            <a:pPr marL="301400">
              <a:lnSpc>
                <a:spcPct val="90000"/>
              </a:lnSpc>
              <a:spcAft>
                <a:spcPts val="600"/>
              </a:spcAft>
              <a:defRPr/>
            </a:pPr>
            <a:r>
              <a:rPr lang="en-US" b="1" dirty="0">
                <a:sym typeface="+mn-ea"/>
              </a:rPr>
              <a:t>Hardware Requirements: </a:t>
            </a:r>
            <a:endParaRPr lang="en-US" dirty="0"/>
          </a:p>
          <a:p>
            <a:pPr>
              <a:lnSpc>
                <a:spcPct val="90000"/>
              </a:lnSpc>
              <a:spcAft>
                <a:spcPts val="600"/>
              </a:spcAft>
              <a:defRPr/>
            </a:pPr>
            <a:r>
              <a:rPr lang="en-US" dirty="0">
                <a:sym typeface="+mn-ea"/>
              </a:rPr>
              <a:t>	Processor : Intel i</a:t>
            </a:r>
            <a:r>
              <a:rPr lang="en-US" altLang="en-US" dirty="0">
                <a:sym typeface="+mn-ea"/>
              </a:rPr>
              <a:t>5</a:t>
            </a:r>
            <a:r>
              <a:rPr lang="en-US" dirty="0">
                <a:sym typeface="+mn-ea"/>
              </a:rPr>
              <a:t> or more</a:t>
            </a:r>
            <a:endParaRPr lang="en-US" dirty="0"/>
          </a:p>
          <a:p>
            <a:pPr>
              <a:lnSpc>
                <a:spcPct val="90000"/>
              </a:lnSpc>
              <a:spcAft>
                <a:spcPts val="600"/>
              </a:spcAft>
              <a:defRPr/>
            </a:pPr>
            <a:r>
              <a:rPr lang="en-US" dirty="0">
                <a:sym typeface="+mn-ea"/>
              </a:rPr>
              <a:t>	Speed 	: 2.4 GHz</a:t>
            </a:r>
            <a:endParaRPr lang="en-US" dirty="0"/>
          </a:p>
          <a:p>
            <a:pPr>
              <a:lnSpc>
                <a:spcPct val="90000"/>
              </a:lnSpc>
              <a:spcAft>
                <a:spcPts val="600"/>
              </a:spcAft>
              <a:defRPr/>
            </a:pPr>
            <a:r>
              <a:rPr lang="en-US" dirty="0">
                <a:sym typeface="+mn-ea"/>
              </a:rPr>
              <a:t>	RAM 	: </a:t>
            </a:r>
            <a:r>
              <a:rPr lang="en-US" altLang="en-US" dirty="0">
                <a:sym typeface="+mn-ea"/>
              </a:rPr>
              <a:t>4</a:t>
            </a:r>
            <a:r>
              <a:rPr lang="en-US" dirty="0">
                <a:sym typeface="+mn-ea"/>
              </a:rPr>
              <a:t>GB </a:t>
            </a:r>
            <a:r>
              <a:rPr lang="en-US" altLang="en-US" dirty="0">
                <a:sym typeface="+mn-ea"/>
              </a:rPr>
              <a:t>(min)</a:t>
            </a:r>
            <a:endParaRPr lang="en-US" dirty="0"/>
          </a:p>
          <a:p>
            <a:pPr>
              <a:lnSpc>
                <a:spcPct val="90000"/>
              </a:lnSpc>
              <a:spcAft>
                <a:spcPts val="600"/>
              </a:spcAft>
              <a:defRPr/>
            </a:pPr>
            <a:r>
              <a:rPr lang="en-US" dirty="0">
                <a:sym typeface="+mn-ea"/>
              </a:rPr>
              <a:t>	Hard Disk : 50 GB</a:t>
            </a:r>
            <a:endParaRPr lang="en-US" dirty="0"/>
          </a:p>
          <a:p>
            <a:pPr marL="301400">
              <a:lnSpc>
                <a:spcPct val="90000"/>
              </a:lnSpc>
              <a:spcAft>
                <a:spcPts val="600"/>
              </a:spcAft>
              <a:defRPr/>
            </a:pPr>
            <a:r>
              <a:rPr lang="en-US" altLang="en-US" b="1" dirty="0">
                <a:sym typeface="+mn-ea"/>
              </a:rPr>
              <a:t>  </a:t>
            </a:r>
            <a:r>
              <a:rPr lang="en-US" b="1" dirty="0">
                <a:sym typeface="+mn-ea"/>
              </a:rPr>
              <a:t>Software Requirements:</a:t>
            </a:r>
            <a:endParaRPr lang="en-US" dirty="0"/>
          </a:p>
          <a:p>
            <a:pPr>
              <a:lnSpc>
                <a:spcPct val="90000"/>
              </a:lnSpc>
              <a:spcAft>
                <a:spcPts val="600"/>
              </a:spcAft>
              <a:defRPr/>
            </a:pPr>
            <a:r>
              <a:rPr lang="en-US" dirty="0">
                <a:sym typeface="+mn-ea"/>
              </a:rPr>
              <a:t>	Operating System : Windows 1</a:t>
            </a:r>
            <a:r>
              <a:rPr lang="en-US" altLang="en-US" dirty="0">
                <a:sym typeface="+mn-ea"/>
              </a:rPr>
              <a:t>1</a:t>
            </a:r>
            <a:endParaRPr lang="en-US" dirty="0">
              <a:sym typeface="+mn-ea"/>
            </a:endParaRPr>
          </a:p>
          <a:p>
            <a:pPr>
              <a:lnSpc>
                <a:spcPct val="90000"/>
              </a:lnSpc>
              <a:spcAft>
                <a:spcPts val="600"/>
              </a:spcAft>
              <a:defRPr/>
            </a:pPr>
            <a:r>
              <a:rPr lang="en-US" dirty="0">
                <a:sym typeface="+mn-ea"/>
              </a:rPr>
              <a:t> </a:t>
            </a:r>
            <a:r>
              <a:rPr lang="en-US" altLang="en-US" dirty="0">
                <a:sym typeface="+mn-ea"/>
              </a:rPr>
              <a:t>                   Language :  Python</a:t>
            </a:r>
            <a:endParaRPr lang="en-US" dirty="0"/>
          </a:p>
          <a:p>
            <a:pPr indent="-228600">
              <a:lnSpc>
                <a:spcPct val="90000"/>
              </a:lnSpc>
              <a:spcAft>
                <a:spcPts val="600"/>
              </a:spcAft>
              <a:buFont typeface="Arial" panose="020B0604020202020204" pitchFamily="34" charset="0"/>
              <a:buChar cha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042DDA-19A8-ECA1-5E56-7AAA09A5E4A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CBA8A7-C2F2-7A34-9B6F-7A44B5316580}"/>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Advantages</a:t>
            </a:r>
            <a:endParaRPr lang="en-US" b="1">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1">
            <a:extLst>
              <a:ext uri="{FF2B5EF4-FFF2-40B4-BE49-F238E27FC236}">
                <a16:creationId xmlns:a16="http://schemas.microsoft.com/office/drawing/2014/main" id="{4E7B1C6A-85AA-6254-2DA8-81E53D80BF08}"/>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Removes language barriers – Helps people talk easily in different languages.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Real-time translation – Translates speech instantly without long delays.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AI-powered accuracy – Gives more correct and natural translations.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Voice output – Speaks the translated text clearly for better communication.</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Easy to use – Simple interface that anyone can use.</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Useful in many areas – Helpful for travel, meetings, education, and customer support.</a:t>
            </a:r>
          </a:p>
        </p:txBody>
      </p:sp>
    </p:spTree>
    <p:extLst>
      <p:ext uri="{BB962C8B-B14F-4D97-AF65-F5344CB8AC3E}">
        <p14:creationId xmlns:p14="http://schemas.microsoft.com/office/powerpoint/2010/main" val="1060771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49EEF-9B85-0C3F-E6AF-CA824D7860C1}"/>
              </a:ext>
            </a:extLst>
          </p:cNvPr>
          <p:cNvSpPr>
            <a:spLocks noGrp="1"/>
          </p:cNvSpPr>
          <p:nvPr>
            <p:ph type="title"/>
          </p:nvPr>
        </p:nvSpPr>
        <p:spPr>
          <a:xfrm>
            <a:off x="686834" y="1153572"/>
            <a:ext cx="3200400" cy="4461163"/>
          </a:xfrm>
        </p:spPr>
        <p:txBody>
          <a:bodyPr>
            <a:normAutofit/>
          </a:bodyPr>
          <a:lstStyle/>
          <a:p>
            <a:r>
              <a:rPr lang="en-IN" b="1">
                <a:solidFill>
                  <a:srgbClr val="FFFFFF"/>
                </a:solidFill>
                <a:latin typeface="Times New Roman" panose="02020603050405020304" pitchFamily="18" charset="0"/>
                <a:cs typeface="Times New Roman" panose="02020603050405020304" pitchFamily="18" charset="0"/>
              </a:rPr>
              <a:t>Conclusion</a:t>
            </a:r>
            <a:br>
              <a:rPr lang="en-IN" b="1">
                <a:solidFill>
                  <a:srgbClr val="FFFFFF"/>
                </a:solidFill>
                <a:latin typeface="Times New Roman" panose="02020603050405020304" pitchFamily="18" charset="0"/>
                <a:cs typeface="Times New Roman" panose="02020603050405020304" pitchFamily="18" charset="0"/>
              </a:rPr>
            </a:br>
            <a:endParaRPr lang="en-IN"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65391C-F674-A34F-C4D1-F10C1D530BEB}"/>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b="1" dirty="0" err="1">
                <a:latin typeface="Times New Roman" panose="02020603050405020304" pitchFamily="18" charset="0"/>
                <a:cs typeface="Times New Roman" panose="02020603050405020304" pitchFamily="18" charset="0"/>
              </a:rPr>
              <a:t>VoiceVerse</a:t>
            </a:r>
            <a:r>
              <a:rPr lang="en-US" b="1" dirty="0">
                <a:latin typeface="Times New Roman" panose="02020603050405020304" pitchFamily="18" charset="0"/>
                <a:cs typeface="Times New Roman" panose="02020603050405020304" pitchFamily="18" charset="0"/>
              </a:rPr>
              <a:t> Translator</a:t>
            </a:r>
            <a:r>
              <a:rPr lang="en-US" dirty="0">
                <a:latin typeface="Times New Roman" panose="02020603050405020304" pitchFamily="18" charset="0"/>
                <a:cs typeface="Times New Roman" panose="02020603050405020304" pitchFamily="18" charset="0"/>
              </a:rPr>
              <a:t> helps people talk to each other even if they speak different languages. It listens to the voice, translates it quickly, and speaks it in another </a:t>
            </a:r>
            <a:r>
              <a:rPr lang="en-US" dirty="0" err="1">
                <a:latin typeface="Times New Roman" panose="02020603050405020304" pitchFamily="18" charset="0"/>
                <a:cs typeface="Times New Roman" panose="02020603050405020304" pitchFamily="18" charset="0"/>
              </a:rPr>
              <a:t>language.This</a:t>
            </a:r>
            <a:r>
              <a:rPr lang="en-US" dirty="0">
                <a:latin typeface="Times New Roman" panose="02020603050405020304" pitchFamily="18" charset="0"/>
                <a:cs typeface="Times New Roman" panose="02020603050405020304" pitchFamily="18" charset="0"/>
              </a:rPr>
              <a:t> project makes communication easy, fast, and clear. It can be very useful for travel, learning, and talking to people from other countries.</a:t>
            </a:r>
          </a:p>
        </p:txBody>
      </p:sp>
    </p:spTree>
    <p:extLst>
      <p:ext uri="{BB962C8B-B14F-4D97-AF65-F5344CB8AC3E}">
        <p14:creationId xmlns:p14="http://schemas.microsoft.com/office/powerpoint/2010/main" val="417858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04C0D6-9A29-7579-998E-985131058984}"/>
              </a:ext>
            </a:extLst>
          </p:cNvPr>
          <p:cNvSpPr>
            <a:spLocks noGrp="1"/>
          </p:cNvSpPr>
          <p:nvPr>
            <p:ph type="title"/>
          </p:nvPr>
        </p:nvSpPr>
        <p:spPr>
          <a:xfrm>
            <a:off x="686834" y="1153572"/>
            <a:ext cx="3200400" cy="4461163"/>
          </a:xfrm>
        </p:spPr>
        <p:txBody>
          <a:bodyPr>
            <a:normAutofit/>
          </a:bodyPr>
          <a:lstStyle/>
          <a:p>
            <a:r>
              <a:rPr lang="en-IN" b="1" dirty="0">
                <a:solidFill>
                  <a:srgbClr val="FFFFFF"/>
                </a:solidFill>
                <a:latin typeface="Times New Roman" panose="02020603050405020304" pitchFamily="18" charset="0"/>
                <a:cs typeface="Times New Roman" panose="02020603050405020304" pitchFamily="18" charset="0"/>
              </a:rPr>
              <a:t>Reference</a:t>
            </a:r>
            <a:br>
              <a:rPr lang="en-IN" dirty="0">
                <a:solidFill>
                  <a:srgbClr val="FFFFFF"/>
                </a:solidFill>
                <a:latin typeface="Times New Roman" panose="02020603050405020304" pitchFamily="18" charset="0"/>
                <a:cs typeface="Times New Roman" panose="02020603050405020304" pitchFamily="18" charset="0"/>
              </a:rPr>
            </a:br>
            <a:endParaRPr lang="en-IN" dirty="0">
              <a:solidFill>
                <a:srgbClr val="FFFFFF"/>
              </a:solidFill>
            </a:endParaRPr>
          </a:p>
        </p:txBody>
      </p:sp>
      <p:sp>
        <p:nvSpPr>
          <p:cNvPr id="20" name="Arc 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A7DBB70-50C9-B1C7-A49F-D2F92FB3AC9D}"/>
              </a:ext>
            </a:extLst>
          </p:cNvPr>
          <p:cNvSpPr>
            <a:spLocks noGrp="1"/>
          </p:cNvSpPr>
          <p:nvPr>
            <p:ph idx="1"/>
          </p:nvPr>
        </p:nvSpPr>
        <p:spPr>
          <a:xfrm>
            <a:off x="4167272" y="704200"/>
            <a:ext cx="8024728" cy="5449600"/>
          </a:xfrm>
        </p:spPr>
        <p:txBody>
          <a:bodyPr anchor="ctr">
            <a:normAutofit/>
          </a:bodyPr>
          <a:lstStyle/>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S. </a:t>
            </a:r>
            <a:r>
              <a:rPr lang="en-US" sz="1800" dirty="0" err="1">
                <a:latin typeface="Times New Roman" panose="02020603050405020304" pitchFamily="18" charset="0"/>
                <a:cs typeface="Times New Roman" panose="02020603050405020304" pitchFamily="18" charset="0"/>
              </a:rPr>
              <a:t>Divate</a:t>
            </a:r>
            <a:r>
              <a:rPr lang="en-US" sz="1800" dirty="0">
                <a:latin typeface="Times New Roman" panose="02020603050405020304" pitchFamily="18" charset="0"/>
                <a:cs typeface="Times New Roman" panose="02020603050405020304" pitchFamily="18" charset="0"/>
              </a:rPr>
              <a:t>, G. Biradar, A. Patole, and N. Attar, “Real Time Language Translator,” </a:t>
            </a:r>
            <a:r>
              <a:rPr lang="en-US" sz="1800" i="1" dirty="0">
                <a:latin typeface="Times New Roman" panose="02020603050405020304" pitchFamily="18" charset="0"/>
                <a:cs typeface="Times New Roman" panose="02020603050405020304" pitchFamily="18" charset="0"/>
              </a:rPr>
              <a:t>International Research Journal of Modernization in Engineering Technology and Science (IRJMETS)</a:t>
            </a:r>
            <a:r>
              <a:rPr lang="en-US" sz="1800" dirty="0">
                <a:latin typeface="Times New Roman" panose="02020603050405020304" pitchFamily="18" charset="0"/>
                <a:cs typeface="Times New Roman" panose="02020603050405020304" pitchFamily="18" charset="0"/>
              </a:rPr>
              <a:t>, vol. 5, no. 12, pp. [insert page numbers if known], Dec. 2023</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D. </a:t>
            </a:r>
            <a:r>
              <a:rPr lang="en-US" sz="1800" dirty="0" err="1">
                <a:latin typeface="Times New Roman" panose="02020603050405020304" pitchFamily="18" charset="0"/>
                <a:cs typeface="Times New Roman" panose="02020603050405020304" pitchFamily="18" charset="0"/>
              </a:rPr>
              <a:t>Shilvant</a:t>
            </a:r>
            <a:r>
              <a:rPr lang="en-US" sz="1800" dirty="0">
                <a:latin typeface="Times New Roman" panose="02020603050405020304" pitchFamily="18" charset="0"/>
                <a:cs typeface="Times New Roman" panose="02020603050405020304" pitchFamily="18" charset="0"/>
              </a:rPr>
              <a:t>, E. Sayyed, S. Jagdale, and R. Waghmare, “Real Time Voice Translator,” </a:t>
            </a:r>
            <a:r>
              <a:rPr lang="en-US" sz="1800" i="1" dirty="0">
                <a:latin typeface="Times New Roman" panose="02020603050405020304" pitchFamily="18" charset="0"/>
                <a:cs typeface="Times New Roman" panose="02020603050405020304" pitchFamily="18" charset="0"/>
              </a:rPr>
              <a:t>International Journal of Advanced Research in Science, Communication and Technology (IJARSCT)</a:t>
            </a:r>
            <a:r>
              <a:rPr lang="en-US" sz="1800" dirty="0">
                <a:latin typeface="Times New Roman" panose="02020603050405020304" pitchFamily="18" charset="0"/>
                <a:cs typeface="Times New Roman" panose="02020603050405020304" pitchFamily="18" charset="0"/>
              </a:rPr>
              <a:t>, vol. 4, no. 1, pp. [insert page numbers if known], Apr. 2024.</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D. Patel, M. </a:t>
            </a:r>
            <a:r>
              <a:rPr lang="en-US" sz="1800" dirty="0" err="1">
                <a:latin typeface="Times New Roman" panose="02020603050405020304" pitchFamily="18" charset="0"/>
                <a:cs typeface="Times New Roman" panose="02020603050405020304" pitchFamily="18" charset="0"/>
              </a:rPr>
              <a:t>Kudalkar</a:t>
            </a:r>
            <a:r>
              <a:rPr lang="en-US" sz="1800" dirty="0">
                <a:latin typeface="Times New Roman" panose="02020603050405020304" pitchFamily="18" charset="0"/>
                <a:cs typeface="Times New Roman" panose="02020603050405020304" pitchFamily="18" charset="0"/>
              </a:rPr>
              <a:t>, S. Gupta, and R. Pawar, “Real-Time Text and Speech Translation Using Sequence-to-Sequence Approach,” </a:t>
            </a:r>
            <a:r>
              <a:rPr lang="en-US" sz="1800" i="1" dirty="0">
                <a:latin typeface="Times New Roman" panose="02020603050405020304" pitchFamily="18" charset="0"/>
                <a:cs typeface="Times New Roman" panose="02020603050405020304" pitchFamily="18" charset="0"/>
              </a:rPr>
              <a:t>Proceedings of the Third International Conference on Inventive Research in Computing Applications (ICIRCA-2021).</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R. Prasad, K. </a:t>
            </a:r>
            <a:r>
              <a:rPr lang="en-US" sz="1800" dirty="0" err="1">
                <a:latin typeface="Times New Roman" panose="02020603050405020304" pitchFamily="18" charset="0"/>
                <a:cs typeface="Times New Roman" panose="02020603050405020304" pitchFamily="18" charset="0"/>
              </a:rPr>
              <a:t>Krstovski</a:t>
            </a:r>
            <a:r>
              <a:rPr lang="en-US" sz="1800" dirty="0">
                <a:latin typeface="Times New Roman" panose="02020603050405020304" pitchFamily="18" charset="0"/>
                <a:cs typeface="Times New Roman" panose="02020603050405020304" pitchFamily="18" charset="0"/>
              </a:rPr>
              <a:t>, F. Choi, S. Saleem, P. Natarajan, M. Decerbo, and D. Stallard, “Real-Time Speech-to-Speech Translation for PDAs,” </a:t>
            </a:r>
            <a:r>
              <a:rPr lang="en-US" sz="1800" i="1" dirty="0">
                <a:latin typeface="Times New Roman" panose="02020603050405020304" pitchFamily="18" charset="0"/>
                <a:cs typeface="Times New Roman" panose="02020603050405020304" pitchFamily="18" charset="0"/>
              </a:rPr>
              <a:t>BBN Technologies</a:t>
            </a:r>
            <a:r>
              <a:rPr lang="en-US" sz="1800" dirty="0">
                <a:latin typeface="Times New Roman" panose="02020603050405020304" pitchFamily="18" charset="0"/>
                <a:cs typeface="Times New Roman" panose="02020603050405020304" pitchFamily="18" charset="0"/>
              </a:rPr>
              <a:t>, Cambridge, MA, USA</a:t>
            </a:r>
          </a:p>
        </p:txBody>
      </p:sp>
    </p:spTree>
    <p:extLst>
      <p:ext uri="{BB962C8B-B14F-4D97-AF65-F5344CB8AC3E}">
        <p14:creationId xmlns:p14="http://schemas.microsoft.com/office/powerpoint/2010/main" val="12038596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2744</TotalTime>
  <Words>1109</Words>
  <Application>Microsoft Office PowerPoint</Application>
  <PresentationFormat>Widescreen</PresentationFormat>
  <Paragraphs>101</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Calibri</vt:lpstr>
      <vt:lpstr>Colonna MT</vt:lpstr>
      <vt:lpstr>Times New Roman</vt:lpstr>
      <vt:lpstr>Wingdings</vt:lpstr>
      <vt:lpstr>Office Theme</vt:lpstr>
      <vt:lpstr>SAHAKAR MAHARSHI SHANKARRAO MOHITE-PATIL INSTITUTE OF TECHNOLOGY AND RESEARCH AKLUJ</vt:lpstr>
      <vt:lpstr>Content</vt:lpstr>
      <vt:lpstr>Introduction </vt:lpstr>
      <vt:lpstr>Literature Review</vt:lpstr>
      <vt:lpstr>PowerPoint Presentation</vt:lpstr>
      <vt:lpstr>Problem Statement</vt:lpstr>
      <vt:lpstr>Existing System</vt:lpstr>
      <vt:lpstr>Methodology </vt:lpstr>
      <vt:lpstr>Objective</vt:lpstr>
      <vt:lpstr>Software &amp; Hardware Requirement </vt:lpstr>
      <vt:lpstr>Advantages</vt:lpstr>
      <vt:lpstr>Conclusion </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Sanket Bodakhe</dc:creator>
  <cp:lastModifiedBy>Sanket Bodakhe</cp:lastModifiedBy>
  <cp:revision>22</cp:revision>
  <dcterms:created xsi:type="dcterms:W3CDTF">2024-05-03T16:32:11Z</dcterms:created>
  <dcterms:modified xsi:type="dcterms:W3CDTF">2025-11-06T16:27:00Z</dcterms:modified>
</cp:coreProperties>
</file>